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0A458"/>
                </a:solidFill>
                <a:latin typeface="Arial"/>
              </a:defRPr>
            </a:pPr>
            <a:r>
              <a:t>PITCH DECK  |  MVP PROTOTYPE</a:t>
            </a:r>
          </a:p>
          <a:p>
            <a:pPr>
              <a:spcAft>
                <a:spcPts val="6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Emak AI Titip</a:t>
            </a:r>
          </a:p>
          <a:p>
            <a:pPr>
              <a:spcAft>
                <a:spcPts val="1200"/>
              </a:spcAft>
              <a:defRPr sz="1800" b="1">
                <a:solidFill>
                  <a:srgbClr val="A7BEAE"/>
                </a:solidFill>
                <a:latin typeface="Arial"/>
              </a:defRPr>
            </a:pPr>
            <a:r>
              <a:t>Market Concierge untuk Pasar Tradisional Indonesia</a:t>
            </a:r>
          </a:p>
          <a:p>
            <a:pPr>
              <a:defRPr sz="1300">
                <a:solidFill>
                  <a:srgbClr val="F4E9E1"/>
                </a:solidFill>
                <a:latin typeface="Arial"/>
              </a:defRPr>
            </a:pPr>
            <a:r>
              <a:t>Conversational commerce platform bridging IRT urban dengan ekosistem pedagang pasar tradisional tanpa gesekan aplikasi baru.</a:t>
            </a:r>
          </a:p>
        </p:txBody>
      </p:sp>
      <p:pic>
        <p:nvPicPr>
          <p:cNvPr id="4" name="Picture 3" descr="emak_titip_illustration_17812753529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0584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B85042"/>
                </a:solidFill>
                <a:latin typeface="Arial"/>
              </a:defRPr>
            </a:pPr>
            <a:r>
              <a:t>01.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A1E15"/>
                </a:solidFill>
                <a:latin typeface="Arial"/>
              </a:defRPr>
            </a:pPr>
            <a:r>
              <a:t>Tiga Masalah Besar di Belanja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B85042"/>
                </a:solidFill>
                <a:latin typeface="Arial"/>
              </a:defRPr>
            </a:pPr>
            <a:r>
              <a:t>01. Markup Harga Tinggi (20-40%)</a:t>
            </a:r>
          </a:p>
          <a:p>
            <a:pPr>
              <a:spcAft>
                <a:spcPts val="14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Platform e-grocery korporat memiliki overhead tinggi karena biaya operasional dark store (gudang pendingin). Hal ini dibebankan kepada konsumen via markup.</a:t>
            </a:r>
          </a:p>
          <a:p>
            <a:pPr>
              <a:spcAft>
                <a:spcPts val="200"/>
              </a:spcAft>
              <a:defRPr sz="1400" b="1">
                <a:solidFill>
                  <a:srgbClr val="E0A458"/>
                </a:solidFill>
                <a:latin typeface="Arial"/>
              </a:defRPr>
            </a:pPr>
            <a:r>
              <a:t>02. Katalog Kaku &amp; Standar</a:t>
            </a:r>
          </a:p>
          <a:p>
            <a:pPr>
              <a:spcAft>
                <a:spcPts val="14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Aplikasi grocery konvensional mengunci pilihan pada SKU kaku. Ibu-ibu tidak bisa memesan spesifikasi kustom seperti 'ayam potong 8 agak muda' atau 'sayur segar'.</a:t>
            </a:r>
          </a:p>
          <a:p>
            <a:pPr>
              <a:spcAft>
                <a:spcPts val="200"/>
              </a:spcAft>
              <a:defRPr sz="1400" b="1">
                <a:solidFill>
                  <a:srgbClr val="7F9C8E"/>
                </a:solidFill>
                <a:latin typeface="Arial"/>
              </a:defRPr>
            </a:pPr>
            <a:r>
              <a:t>03. Pedagang Tradisional Tertinggal</a:t>
            </a:r>
          </a:p>
          <a:p>
            <a:pPr>
              <a:spcAft>
                <a:spcPts val="14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Ekosistem pedagang pasar tradisional tidak memiliki kapasitas logistik/digital untuk bersaing. Mereka tersingkir dari rantai pasok ekonomi digital.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691640"/>
            <a:ext cx="4663440" cy="3291840"/>
          </a:xfrm>
          <a:prstGeom prst="rect">
            <a:avLst/>
          </a:prstGeom>
          <a:solidFill>
            <a:srgbClr val="F4E9E1"/>
          </a:solidFill>
          <a:ln w="19050">
            <a:solidFill>
              <a:srgbClr val="7F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mak_titip_illustration_17812753529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737360"/>
            <a:ext cx="4572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B85042"/>
                </a:solidFill>
                <a:latin typeface="Arial"/>
              </a:defRPr>
            </a:pPr>
            <a:r>
              <a:t>02.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A1E15"/>
                </a:solidFill>
                <a:latin typeface="Arial"/>
              </a:defRPr>
            </a:pPr>
            <a:r>
              <a:t>Solusi: Market Concierge via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85042"/>
                </a:solidFill>
                <a:latin typeface="Arial"/>
              </a:defRPr>
            </a:pPr>
            <a:r>
              <a:t>BELANJA PASAR TANPA APLIKASI BARU</a:t>
            </a:r>
          </a:p>
          <a:p>
            <a:pPr>
              <a:spcAft>
                <a:spcPts val="1800"/>
              </a:spcAft>
              <a:defRPr sz="1500">
                <a:solidFill>
                  <a:srgbClr val="2A1E15"/>
                </a:solidFill>
                <a:latin typeface="Arial"/>
              </a:defRPr>
            </a:pPr>
            <a:r>
              <a:t>Emak AI Titip menghadirkan layanan belanja asisten pribadi (concierge) langsung di dalam aplikasi chat harian yang sudah dikuasai oleh IRT (WhatsApp/Telegram).</a:t>
            </a:r>
          </a:p>
          <a:p>
            <a:pPr>
              <a:spcAft>
                <a:spcPts val="800"/>
              </a:spcAft>
              <a:defRPr sz="1300" b="1">
                <a:solidFill>
                  <a:srgbClr val="2A1E15"/>
                </a:solidFill>
                <a:latin typeface="Arial"/>
              </a:defRPr>
            </a:pPr>
            <a:r>
              <a:t>Keunggulan Utama: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Kurva pembelajaran NOL: Cukup ketik teks biasa, rekam suara, atau foto daftar belanja kertas.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Jujur Harga Pasar asli: Tanpa markup barang. Platform hanya mengambil jasa kurasi &amp; antar flat.</a:t>
            </a:r>
          </a:p>
          <a:p>
            <a:pPr>
              <a:spcAft>
                <a:spcPts val="6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Kurator Manusia Terlatih: Driver bertindak sebagai mata dan tangan konsumen untuk memilih kesegaran bahan pangan.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63040"/>
            <a:ext cx="4114800" cy="4572000"/>
          </a:xfrm>
          <a:prstGeom prst="roundRect">
            <a:avLst/>
          </a:prstGeom>
          <a:solidFill>
            <a:srgbClr val="F4E9E1"/>
          </a:solidFill>
          <a:ln w="3810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554480"/>
            <a:ext cx="3931920" cy="548640"/>
          </a:xfrm>
          <a:prstGeom prst="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Emak AI Titip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286000"/>
            <a:ext cx="2834640" cy="100584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Titip belanjaan dong mak: bayam 2 ikat, tempe papan 1, ayam potong 1kg yang segar.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474720"/>
            <a:ext cx="2926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5204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A1E15"/>
                </a:solidFill>
                <a:latin typeface="Arial"/>
              </a:defRPr>
            </a:pPr>
            <a:r>
              <a:t>Baik Mak! Estimasi belanjaan Mak:</a:t>
            </a:r>
          </a:p>
          <a:p>
            <a:pPr>
              <a:defRPr sz="950">
                <a:solidFill>
                  <a:srgbClr val="3D2B1F"/>
                </a:solidFill>
                <a:latin typeface="Arial"/>
              </a:defRPr>
            </a:pPr>
            <a:r>
              <a:t>- Bayam 2x, Tempe 1x, Ayam 1kg</a:t>
            </a:r>
            <a:br/>
            <a:r>
              <a:t>- Estimasi total: Rp65.000</a:t>
            </a:r>
            <a:br/>
            <a:r>
              <a:t>- Buffer dana (15%): Rp9.750</a:t>
            </a:r>
            <a:br/>
            <a:r>
              <a:t>- Total Lock: Rp74.750</a:t>
            </a:r>
            <a:br/>
            <a:r>
              <a:t>Checkout di: emak.ai/pay/xY92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502920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A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5074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A1E15"/>
                </a:solidFill>
                <a:latin typeface="Arial"/>
              </a:defRPr>
            </a:pPr>
            <a:r>
              <a:t>[DRIVER UPDATE] Bayam di lapak A kosong mak, diganti kangkung?</a:t>
            </a:r>
            <a:br/>
            <a:r>
              <a:t>[Setuju]  [Batalkan]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B85042"/>
                </a:solidFill>
                <a:latin typeface="Arial"/>
              </a:defRPr>
            </a:pPr>
            <a:r>
              <a:t>03.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A1E15"/>
                </a:solidFill>
                <a:latin typeface="Arial"/>
              </a:defRPr>
            </a:pPr>
            <a:r>
              <a:t>Tiga Pilar Inovasi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365760"/>
          </a:xfrm>
          <a:prstGeom prst="rect">
            <a:avLst/>
          </a:prstGeom>
          <a:solidFill>
            <a:srgbClr val="7F9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834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A1E15"/>
                </a:solidFill>
                <a:latin typeface="Arial"/>
              </a:defRPr>
            </a:pPr>
            <a:r>
              <a:t>1. Conversational Interface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Menggunakan WhatsApp &amp; Telegram gateway.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Mengeliminasi hambatan adopsi aplikasi (download, login, setting alamat).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Akurasi interaksi obrolan dipertahankan hingga 90% secara internal.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834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A1E15"/>
                </a:solidFill>
                <a:latin typeface="Arial"/>
              </a:defRPr>
            </a:pPr>
            <a:r>
              <a:t>2. Contextual Parsing Engine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Sistem backend berbasis LLM/NLP menterjemahkan teks kasual bebas menjadi data item terstruktur.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Transkripsi voice note secara langsung dan ekstraksi gambar (foto catatan kertas).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Waktu pemrosesan data (SLA) di bawah 3 detik.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91840" cy="365760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834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A1E15"/>
                </a:solidFill>
                <a:latin typeface="Arial"/>
              </a:defRPr>
            </a:pPr>
            <a:r>
              <a:t>3. Dynamic Concierge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Driver dilengkapi dengan aplikasi internal yang berisi checklist belanja modular.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Navigasi belanja dikelompokkan otomatis per Stall Aggregator pasar agar efisien.</a:t>
            </a:r>
          </a:p>
          <a:p>
            <a:pPr>
              <a:spcAft>
                <a:spcPts val="500"/>
              </a:spcAft>
              <a:defRPr sz="1150">
                <a:solidFill>
                  <a:srgbClr val="3D2B1F"/>
                </a:solidFill>
                <a:latin typeface="Arial"/>
              </a:defRPr>
            </a:pPr>
            <a:r>
              <a:t>• Verifikasi nota dan penimbangan berat aktual langsung di aplikasi driver.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B85042"/>
                </a:solidFill>
                <a:latin typeface="Arial"/>
              </a:defRPr>
            </a:pPr>
            <a:r>
              <a:t>04.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A1E15"/>
                </a:solidFill>
                <a:latin typeface="Arial"/>
              </a:defRPr>
            </a:pPr>
            <a:r>
              <a:t>Alur Perjalanan Pengguna (User Journey)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0698480" cy="54864"/>
          </a:xfrm>
          <a:prstGeom prst="rect">
            <a:avLst/>
          </a:prstGeom>
          <a:solidFill>
            <a:srgbClr val="7F9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3090672"/>
            <a:ext cx="457200" cy="457200"/>
          </a:xfrm>
          <a:prstGeom prst="ellipse">
            <a:avLst/>
          </a:prstGeom>
          <a:solidFill>
            <a:srgbClr val="B85042"/>
          </a:solidFill>
          <a:ln w="1905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A1E15"/>
                </a:solidFill>
                <a:latin typeface="Arial"/>
              </a:defRPr>
            </a:pPr>
            <a:r>
              <a:t>1. Kirim Catatan</a:t>
            </a:r>
          </a:p>
          <a:p>
            <a:pPr algn="ctr">
              <a:defRPr sz="1000">
                <a:solidFill>
                  <a:srgbClr val="3D2B1F"/>
                </a:solidFill>
                <a:latin typeface="Arial"/>
              </a:defRPr>
            </a:pPr>
            <a:r>
              <a:t>User mengirimkan daftar belanjaan berupa teks kasual, voice note, atau foto catatan kertas ke chatbot.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3090672"/>
            <a:ext cx="457200" cy="457200"/>
          </a:xfrm>
          <a:prstGeom prst="ellipse">
            <a:avLst/>
          </a:prstGeom>
          <a:solidFill>
            <a:srgbClr val="E0A458"/>
          </a:solidFill>
          <a:ln w="1905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49039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A1E15"/>
                </a:solidFill>
                <a:latin typeface="Arial"/>
              </a:defRPr>
            </a:pPr>
            <a:r>
              <a:t>2. AI Parsing &amp; Estimasi</a:t>
            </a:r>
          </a:p>
          <a:p>
            <a:pPr algn="ctr">
              <a:defRPr sz="1000">
                <a:solidFill>
                  <a:srgbClr val="3D2B1F"/>
                </a:solidFill>
                <a:latin typeface="Arial"/>
              </a:defRPr>
            </a:pPr>
            <a:r>
              <a:t>LLM mengekstrak daftar belanjaan menjadi JSON terstruktur &amp; mengestimasi harga + 15% buffer.</a:t>
            </a:r>
          </a:p>
        </p:txBody>
      </p:sp>
      <p:sp>
        <p:nvSpPr>
          <p:cNvPr id="10" name="Oval 9"/>
          <p:cNvSpPr/>
          <p:nvPr/>
        </p:nvSpPr>
        <p:spPr>
          <a:xfrm>
            <a:off x="4983480" y="3090672"/>
            <a:ext cx="457200" cy="457200"/>
          </a:xfrm>
          <a:prstGeom prst="ellipse">
            <a:avLst/>
          </a:prstGeom>
          <a:solidFill>
            <a:srgbClr val="B85042"/>
          </a:solidFill>
          <a:ln w="1905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A1E15"/>
                </a:solidFill>
                <a:latin typeface="Arial"/>
              </a:defRPr>
            </a:pPr>
            <a:r>
              <a:t>3. Checkout &amp; Lock Dana</a:t>
            </a:r>
          </a:p>
          <a:p>
            <a:pPr algn="ctr">
              <a:defRPr sz="1000">
                <a:solidFill>
                  <a:srgbClr val="3D2B1F"/>
                </a:solidFill>
                <a:latin typeface="Arial"/>
              </a:defRPr>
            </a:pPr>
            <a:r>
              <a:t>User membayar lewat link instan. Dana sebesar estimasi + buffer ditahan di Escrow.</a:t>
            </a:r>
          </a:p>
        </p:txBody>
      </p:sp>
      <p:sp>
        <p:nvSpPr>
          <p:cNvPr id="12" name="Oval 11"/>
          <p:cNvSpPr/>
          <p:nvPr/>
        </p:nvSpPr>
        <p:spPr>
          <a:xfrm>
            <a:off x="6995160" y="3090672"/>
            <a:ext cx="457200" cy="457200"/>
          </a:xfrm>
          <a:prstGeom prst="ellipse">
            <a:avLst/>
          </a:prstGeom>
          <a:solidFill>
            <a:srgbClr val="E0A458"/>
          </a:solidFill>
          <a:ln w="1905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749039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A1E15"/>
                </a:solidFill>
                <a:latin typeface="Arial"/>
              </a:defRPr>
            </a:pPr>
            <a:r>
              <a:t>4. Belanja &amp; Verifikasi</a:t>
            </a:r>
          </a:p>
          <a:p>
            <a:pPr algn="ctr">
              <a:defRPr sz="1000">
                <a:solidFill>
                  <a:srgbClr val="3D2B1F"/>
                </a:solidFill>
                <a:latin typeface="Arial"/>
              </a:defRPr>
            </a:pPr>
            <a:r>
              <a:t>Driver belanja dengan checklist dinamis, mencatat harga timbangan riil, &amp; mengunggah foto nota.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3090672"/>
            <a:ext cx="457200" cy="457200"/>
          </a:xfrm>
          <a:prstGeom prst="ellipse">
            <a:avLst/>
          </a:prstGeom>
          <a:solidFill>
            <a:srgbClr val="B85042"/>
          </a:solidFill>
          <a:ln w="1905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A1E15"/>
                </a:solidFill>
                <a:latin typeface="Arial"/>
              </a:defRPr>
            </a:pPr>
            <a:r>
              <a:t>5. Settlement &amp; Refund</a:t>
            </a:r>
          </a:p>
          <a:p>
            <a:pPr algn="ctr">
              <a:defRPr sz="1000">
                <a:solidFill>
                  <a:srgbClr val="3D2B1F"/>
                </a:solidFill>
                <a:latin typeface="Arial"/>
              </a:defRPr>
            </a:pPr>
            <a:r>
              <a:t>Sisa dana buffer langsung di-refund otomatis. Payout disalurkan ke Stall Aggregator &amp; Driver.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B85042"/>
                </a:solidFill>
                <a:latin typeface="Arial"/>
              </a:defRPr>
            </a:pPr>
            <a:r>
              <a:t>05. 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A1E15"/>
                </a:solidFill>
                <a:latin typeface="Arial"/>
              </a:defRPr>
            </a:pPr>
            <a:r>
              <a:t>Model Bisnis &amp; Aliran Pendapatan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41148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45920"/>
            <a:ext cx="4983480" cy="411480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B85042"/>
                </a:solidFill>
                <a:latin typeface="Arial"/>
              </a:defRPr>
            </a:pPr>
            <a:r>
              <a:t>Rp15.000 - Rp25.000</a:t>
            </a:r>
          </a:p>
          <a:p>
            <a:pPr>
              <a:spcAft>
                <a:spcPts val="1400"/>
              </a:spcAft>
              <a:defRPr sz="1400" b="1">
                <a:solidFill>
                  <a:srgbClr val="2A1E15"/>
                </a:solidFill>
                <a:latin typeface="Arial"/>
              </a:defRPr>
            </a:pPr>
            <a:r>
              <a:t>Jasa Kurator &amp; Pengantaran (Convenience Fee)</a:t>
            </a:r>
          </a:p>
          <a:p>
            <a:pPr>
              <a:spcAft>
                <a:spcPts val="8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Dikenakan flat per transaksi sebagai biaya jasa asisten belanja personal.</a:t>
            </a:r>
          </a:p>
          <a:p>
            <a:pPr>
              <a:spcAft>
                <a:spcPts val="8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Nilai bergantung pada jarak pengantaran dan kompleksitas pesanan kustom.</a:t>
            </a:r>
          </a:p>
          <a:p>
            <a:pPr>
              <a:spcAft>
                <a:spcPts val="8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Langsung dialokasikan untuk membiayai operasional driver concierge dan margin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137160" cy="4114800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645920"/>
            <a:ext cx="4983480" cy="411480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E0A458"/>
                </a:solidFill>
                <a:latin typeface="Arial"/>
              </a:defRPr>
            </a:pPr>
            <a:r>
              <a:t>2% - 3%</a:t>
            </a:r>
          </a:p>
          <a:p>
            <a:pPr>
              <a:spcAft>
                <a:spcPts val="1400"/>
              </a:spcAft>
              <a:defRPr sz="1400" b="1">
                <a:solidFill>
                  <a:srgbClr val="2A1E15"/>
                </a:solidFill>
                <a:latin typeface="Arial"/>
              </a:defRPr>
            </a:pPr>
            <a:r>
              <a:t>Komisi Mitra Stall Aggregator</a:t>
            </a:r>
          </a:p>
          <a:p>
            <a:pPr>
              <a:spcAft>
                <a:spcPts val="8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Diperoleh dari Stall Aggregator (pedagang grosir pasar) atas volume pesanan terpusat.</a:t>
            </a:r>
          </a:p>
          <a:p>
            <a:pPr>
              <a:spcAft>
                <a:spcPts val="8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Stall Aggregator berperan mengumpulkan pesanan dari pedagang eceran lain untuk mempercepat proses belanja.</a:t>
            </a:r>
          </a:p>
          <a:p>
            <a:pPr>
              <a:spcAft>
                <a:spcPts val="800"/>
              </a:spcAft>
              <a:defRPr sz="1200">
                <a:solidFill>
                  <a:srgbClr val="3D2B1F"/>
                </a:solidFill>
                <a:latin typeface="Arial"/>
              </a:defRPr>
            </a:pPr>
            <a:r>
              <a:t>• Menyederhanakan titik pengumpulan belanjaan bagi runner sehingga mempersingkat Average Shopping Duration.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0A458"/>
                </a:solidFill>
                <a:latin typeface="Arial"/>
              </a:defRPr>
            </a:pPr>
            <a:r>
              <a:t>06. FUNCTIONAL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Module 1: Conversational Chatbot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1097280"/>
          </a:xfrm>
          <a:prstGeom prst="rect">
            <a:avLst/>
          </a:prstGeom>
          <a:solidFill>
            <a:srgbClr val="7F9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45920"/>
            <a:ext cx="10561320" cy="109728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102412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A1E15"/>
                </a:solidFill>
                <a:latin typeface="Arial"/>
              </a:defRPr>
            </a:pPr>
            <a:r>
              <a:t>MULTI-MODAL INPUT PARSING (FR-1.1)</a:t>
            </a:r>
          </a:p>
          <a:p>
            <a:pPr>
              <a:defRPr sz="1100">
                <a:solidFill>
                  <a:srgbClr val="3D2B1F"/>
                </a:solidFill>
                <a:latin typeface="Arial"/>
              </a:defRPr>
            </a:pPr>
            <a:r>
              <a:t>Menerima pesan suara (transkripsi internal otomatis).  |  Membaca foto catatan tangan coretan kertas menggunakan modul OCR.  |  Parsing percakapan bahasa kasual bebas menjadi data item terstruktur (JSON).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37160" cy="10972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017520"/>
            <a:ext cx="10561320" cy="109728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2412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A1E15"/>
                </a:solidFill>
                <a:latin typeface="Arial"/>
              </a:defRPr>
            </a:pPr>
            <a:r>
              <a:t>DYNAMIC ESTIMATION &amp; CHECKOUT (FR-1.2)</a:t>
            </a:r>
          </a:p>
          <a:p>
            <a:pPr>
              <a:defRPr sz="1100">
                <a:solidFill>
                  <a:srgbClr val="3D2B1F"/>
                </a:solidFill>
                <a:latin typeface="Arial"/>
              </a:defRPr>
            </a:pPr>
            <a:r>
              <a:t>Menghitung estimasi total belanja berdasarkan basis data harga pasar teraktual.  |  Menambahkan buffer dana sebesar 15% untuk toleransi fluktuasi harga timbangan.  |  Menyediakan checkout link instan dengan masa berlaku dinamis.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137160" cy="1097280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389120"/>
            <a:ext cx="10561320" cy="1097280"/>
          </a:xfrm>
          <a:prstGeom prst="rect">
            <a:avLst/>
          </a:prstGeom>
          <a:solidFill>
            <a:srgbClr val="F4E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98848"/>
            <a:ext cx="102412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A1E15"/>
                </a:solidFill>
                <a:latin typeface="Arial"/>
              </a:defRPr>
            </a:pPr>
            <a:r>
              <a:t>REAL-TIME SUBSTITUTION (FR-1.3)</a:t>
            </a:r>
          </a:p>
          <a:p>
            <a:pPr>
              <a:defRPr sz="1100">
                <a:solidFill>
                  <a:srgbClr val="3D2B1F"/>
                </a:solidFill>
                <a:latin typeface="Arial"/>
              </a:defRPr>
            </a:pPr>
            <a:r>
              <a:t>Mengirimkan pilihan substitusi interaktif langsung via WhatsApp apabila stok kosong.  |  Menyediakan tombol respon instan (Setuju / Batalkan item).  |  Menyinkronkan data belanjaan secara langsung ke checklist internal driver.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0A458"/>
                </a:solidFill>
                <a:latin typeface="Arial"/>
              </a:defRPr>
            </a:pPr>
            <a:r>
              <a:t>07. FUNCTIONAL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Module 2: Driver Concierge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E0A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Smart Task Dispatch (FR-2.1)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Notifikasi pesanan berbasis radius terdekat driver dari pasar tradisional.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Menghubungkan pesanan multi-user yang memiliki kemiripan item untuk procurement paralel.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Mengurangi waktu tunggu antrean belanja driver.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7F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Dynamic Route Checklist (FR-2.1)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Mengelompokkan daftar belanjaan secara otomatis berdasarkan zona stall (Sayur, Daging, Bumbu).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Mengarahkan driver langsung ke Stall Aggregator pilihan.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Meminimalkan jarak tempuh fisik driver di dalam pasar tradisional.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Price Adjustment &amp; Audit (FR-2.2)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Memungkinkan pengubahan harga satuan secara langsung mengikuti berat riil timbangan pedagang.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Validasi nota belanja fisik melalui unggahan foto wajib sebelum pengiriman.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Mencegah fraud belanja menggunakan pencocokan citra nota otomatis.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0A458"/>
                </a:solidFill>
                <a:latin typeface="Arial"/>
              </a:defRPr>
            </a:pPr>
            <a:r>
              <a:t>08. FUNCTIONAL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Module 3: Core Backend &amp; Financial Settlement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Escrow &amp; Fund Locking (FR-3.1)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Mengamankan dana sebesar nominal estimasi + buffer segera setelah checkout berhasil.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Menahan dana secara temporary di payment gateway escrow.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Menjamin ketersediaan dana sebelum driver mulai belanja di pasar.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E0A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Reconciliation &amp; Refund (FR-3.2)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Memproses data harga aktual yang diinput oleh driver di lapangan.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Menghitung selisih nominal dana yang dikunci dengan total belanja riil nota.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Mengembalikan sisa dana buffer secara instan dan otomatis ke rekening pengguna.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7F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Automated Split Disbursement (FR-3.2)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Mendistribusikan dana belanja grosir langsung ke akun Stall Aggregator.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Menyalurkan jasa antar langsung ke saldo dompet digital driver.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Memotong komisi platform secara real-time pada setiap transaksi selesai.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0A458"/>
                </a:solidFill>
                <a:latin typeface="Arial"/>
              </a:defRPr>
            </a:pPr>
            <a:r>
              <a:t>09.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Arsitektur Sistem &amp; Non-Fungsional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7F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Performance Limits &amp; SLA (NFR)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NLP Parsing Speed: Pemrosesan input suara/teks acak hingga draf belanja terbentuk maksimal 3.0 detik (NFR-1).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Low Friction Interface: Minimal 90% interaksi belanja diselesaikan di ruang obrolan tanpa peramban luar (NFR-3).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High Availability: Uptime minimum 99.9% terutama di jam puncak operasional pasar (05:00 - 10:00 WIB) (NFR-4).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Data Security: Enkripsi end-to-end data sensitif pengguna dan escrow token.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3D2B1F"/>
          </a:solidFill>
          <a:ln w="19050">
            <a:solidFill>
              <a:srgbClr val="E0A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745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Distributed Transaction Design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Go Backend &amp; Saga Pattern: Penggunaan bahasa Go dengan arsitektur Saga Pattern untuk menjamin konsistensi data transaksi terdistribusi.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Atomic State Machine: Status order terkontrol secara ketat (Draft -&gt; Funds_Locked -&gt; Shopping -&gt; Delivering -&gt; Completed).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Ledger Keuangan Terpisah: Database mencatat relasi ketat antara Order Items dengan Escrow Ledger untuk kemudahan audit keuangan.</a:t>
            </a:r>
          </a:p>
          <a:p>
            <a:pPr>
              <a:spcAft>
                <a:spcPts val="500"/>
              </a:spcAft>
              <a:defRPr sz="1150">
                <a:solidFill>
                  <a:srgbClr val="A7BEAE"/>
                </a:solidFill>
                <a:latin typeface="Arial"/>
              </a:defRPr>
            </a:pPr>
            <a:r>
              <a:t>• API Gateway Integration: Terhubung dengan secure webhook WhatsApp Business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B85042"/>
                </a:solidFill>
                <a:latin typeface="Arial"/>
              </a:defRPr>
            </a:pPr>
            <a:r>
              <a:t>10.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A1E15"/>
                </a:solidFill>
                <a:latin typeface="Arial"/>
              </a:defRPr>
            </a:pPr>
            <a:r>
              <a:t>Ukuran Keberhasilan (KPI Fase MVP)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F4E9E1"/>
          </a:solidFill>
          <a:ln w="1905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B85042"/>
                </a:solidFill>
                <a:latin typeface="Arial"/>
              </a:defRPr>
            </a:pPr>
            <a:r>
              <a:t>90%</a:t>
            </a:r>
          </a:p>
          <a:p>
            <a:pPr>
              <a:spcAft>
                <a:spcPts val="1000"/>
              </a:spcAft>
              <a:defRPr sz="1300" b="1">
                <a:solidFill>
                  <a:srgbClr val="2A1E15"/>
                </a:solidFill>
                <a:latin typeface="Arial"/>
              </a:defRPr>
            </a:pPr>
            <a:r>
              <a:t>User Retention Rate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Fokus pada retensi IRT pasca transaksi pertama.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Pengukuran: Mengukur repeat order dalam kurun waktu 14 hari.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Signifikansi: Memvalidasi kecocokan nilai kemudahan belanja percakapan dan tingkat kepercayaan harga pasar.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F4E9E1"/>
          </a:solidFill>
          <a:ln w="19050">
            <a:solidFill>
              <a:srgbClr val="E0A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E0A458"/>
                </a:solidFill>
                <a:latin typeface="Arial"/>
              </a:defRPr>
            </a:pPr>
            <a:r>
              <a:t>&lt; 20m</a:t>
            </a:r>
          </a:p>
          <a:p>
            <a:pPr>
              <a:spcAft>
                <a:spcPts val="1000"/>
              </a:spcAft>
              <a:defRPr sz="1300" b="1">
                <a:solidFill>
                  <a:srgbClr val="2A1E15"/>
                </a:solidFill>
                <a:latin typeface="Arial"/>
              </a:defRPr>
            </a:pPr>
            <a:r>
              <a:t>Average Shopping Duration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Target Efisiensi: Durasi belanja rata-rata driver di bawah 20 menit (ASD &lt; 20m).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Pengukuran: Dihitung sejak driver menerima pesanan hingga verifikasi nota selesai.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Signifikansi: Menilai efisiensi operasional Stall Aggregator dan optimasi checklist driver.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F4E9E1"/>
          </a:solidFill>
          <a:ln w="19050">
            <a:solidFill>
              <a:srgbClr val="7F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7F9C8E"/>
                </a:solidFill>
                <a:latin typeface="Arial"/>
              </a:defRPr>
            </a:pPr>
            <a:r>
              <a:t>98%</a:t>
            </a:r>
          </a:p>
          <a:p>
            <a:pPr>
              <a:spcAft>
                <a:spcPts val="1000"/>
              </a:spcAft>
              <a:defRPr sz="1300" b="1">
                <a:solidFill>
                  <a:srgbClr val="2A1E15"/>
                </a:solidFill>
                <a:latin typeface="Arial"/>
              </a:defRPr>
            </a:pPr>
            <a:r>
              <a:t>Order Accuracy Rate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Target Kualitas: Tingkat kecocokan barang belanjaan dengan instruksi spesifik user.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Pengukuran: Dihitung dari ulasan kepuasan barang pasca penerimaan.</a:t>
            </a:r>
          </a:p>
          <a:p>
            <a:pPr>
              <a:spcAft>
                <a:spcPts val="500"/>
              </a:spcAft>
              <a:defRPr sz="1100">
                <a:solidFill>
                  <a:srgbClr val="3D2B1F"/>
                </a:solidFill>
                <a:latin typeface="Arial"/>
              </a:defRPr>
            </a:pPr>
            <a:r>
              <a:t>• Signifikansi: Mengukur kualitas kurasi belanja fresh food oleh driver concierge.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